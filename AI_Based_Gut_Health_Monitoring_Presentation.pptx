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926080" cy="12201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40"/>
                </a:solidFill>
                <a:latin typeface="Calibri"/>
              </a:defRPr>
            </a:pPr>
            <a:r>
              <a:t>Sona College of Technology</a:t>
            </a:r>
          </a:p>
          <a:p>
            <a:pPr>
              <a:defRPr sz="1400">
                <a:solidFill>
                  <a:srgbClr val="0D9488"/>
                </a:solidFill>
                <a:latin typeface="Calibri"/>
              </a:defRPr>
            </a:pPr>
            <a:r>
              <a:t>Department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  <a:latin typeface="Calibri"/>
              </a:defRPr>
            </a:pPr>
            <a:r>
              <a:t>AI-Based Gut Health Monitoring Using Tongue</a:t>
            </a:r>
          </a:p>
          <a:p>
            <a:pPr>
              <a:spcBef>
                <a:spcPts val="1200"/>
              </a:spcBef>
              <a:defRPr sz="1300">
                <a:solidFill>
                  <a:srgbClr val="323C4B"/>
                </a:solidFill>
                <a:latin typeface="Calibri"/>
              </a:defRPr>
            </a:pPr>
            <a:r>
              <a:t>Multimodal AI-Based Gastrointestinal Disease Screening Using Tongue and Skin Images, GI Symptoms and Lifestyle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PRESENTED BY: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• Vishnu Priya S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• Nithika R</a:t>
            </a:r>
          </a:p>
        </p:txBody>
      </p:sp>
      <p:pic>
        <p:nvPicPr>
          <p:cNvPr id="6" name="Picture 5" descr="tongue_light_red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Gastrointestinal (GI) disorders affect a large global population, impacting quality of life.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Early screening can support timely clinical evaluation and secondary intervention.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Conventional diagnostic investigations (endoscopy, colonoscopy) are invasive, costly, and specialist-dependent.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Specialist access may be limited in rural or primary care settings.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A simple non-invasive preliminary screening approach could improve accessibility and clinical triage.</a:t>
            </a:r>
          </a:p>
        </p:txBody>
      </p:sp>
      <p:pic>
        <p:nvPicPr>
          <p:cNvPr id="6" name="Picture 5" descr="proble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7772400" cy="2367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RESEARCH NEED:</a:t>
            </a:r>
            <a:br/>
            <a:r>
              <a:t>A simple, non-invasive preliminary screening approach to support timely clinical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Why Start With the Tongue?</a:t>
            </a:r>
          </a:p>
        </p:txBody>
      </p:sp>
      <p:pic>
        <p:nvPicPr>
          <p:cNvPr id="5" name="Picture 4" descr="tongue_red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8404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64592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✔ Easy to Capture</a:t>
            </a:r>
          </a:p>
          <a:p>
            <a:pPr>
              <a:spcAft>
                <a:spcPts val="1000"/>
              </a:spcAft>
              <a:defRPr sz="1200">
                <a:solidFill>
                  <a:srgbClr val="323C4B"/>
                </a:solidFill>
              </a:defRPr>
            </a:pPr>
            <a:r>
              <a:t>A standard smartphone camera can easily acquire diffuse mucosal images.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Non-Invasive</a:t>
            </a:r>
          </a:p>
          <a:p>
            <a:pPr>
              <a:spcAft>
                <a:spcPts val="1000"/>
              </a:spcAft>
              <a:defRPr sz="1200">
                <a:solidFill>
                  <a:srgbClr val="323C4B"/>
                </a:solidFill>
              </a:defRPr>
            </a:pPr>
            <a:r>
              <a:t>Image acquisition requires no physical intervention, blood drawing, or pain.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Mucosal Circulation &amp; Flora</a:t>
            </a:r>
          </a:p>
          <a:p>
            <a:pPr>
              <a:spcAft>
                <a:spcPts val="1000"/>
              </a:spcAft>
              <a:defRPr sz="1200">
                <a:solidFill>
                  <a:srgbClr val="323C4B"/>
                </a:solidFill>
              </a:defRPr>
            </a:pPr>
            <a:r>
              <a:t>Tongue surface mucosa reflects oral-gut microbiome changes and peripheral blood flow.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Research Foundation</a:t>
            </a:r>
          </a:p>
          <a:p>
            <a:pPr>
              <a:spcAft>
                <a:spcPts val="1000"/>
              </a:spcAft>
              <a:defRPr sz="1200">
                <a:solidFill>
                  <a:srgbClr val="323C4B"/>
                </a:solidFill>
              </a:defRPr>
            </a:pPr>
            <a:r>
              <a:t>Clinical literature explores relationships between tongue coating/color and digestive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IMPORTANT CLINICAL NOTE: Tongue appearance alone is NOT a standalone GI diagnosis; it serves as a visual feature input for screening.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Why Use Multiple Inputs?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1. Tongue Image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visual mucosal color, coating density, and texture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Skin Image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complementary visual information (dermatological/vascular signs).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40"/>
                </a:solidFill>
              </a:defRPr>
            </a:pPr>
            <a:r>
              <a:t>3. Symptoms &amp; Lifestyle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structured patient-reported GI symptoms &amp; lifestyle factors.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MULTIMODAL FUSION RATIONALE: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Combining visual features with structured clinical symptoms reduces reliance on a single modality, capturing complementary biological markers for robust preliminary screening.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Existing Approaches &amp; Research Gap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2240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2240"/>
                          </a:solidFill>
                        </a:defRPr>
                      </a:pPr>
                      <a:r>
                        <a:t>Input 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2240"/>
                          </a:solidFill>
                        </a:defRPr>
                      </a:pPr>
                      <a:r>
                        <a:t>Main Focus / Scope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AITongue / Traditional Tongue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 image / text 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Tongue-based TCM health assessment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 Deep Learning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 image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Visual color &amp; coating classification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Skin Image Fusion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Skin image +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Dermatology-oriented lesion tasks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OUR PROPOSED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Tongue + Skin + Symptoms + Lifestyle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Multimodal preliminary GI screening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RESEARCH GAP: Existing systems generally focus on isolated single modalities. Our framework explores combining visual mucosal cues with structured clinical symptoms for preliminary screening.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Our Key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01 — Multimodal Input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Integration of tongue image, complementary skin image, and 15 GI lifestyle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02 — Separate Feature Learning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Modality-specific neural encoders (CNNs &amp; Random Forest) extract 16-D feature embeddings.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03 — Gated Feature Fusion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Concatenated 48-D representation passed through Gated MLP to compute attention weights.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04 — Screening Indication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Outputs transparent preliminary GI risk level (Low, Moderate, Higher Risk).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Real Dataset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TONGUE DATASET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TMC / TCM Tongue Diagnosis Dataset</a:t>
            </a:r>
            <a:br/>
            <a:r>
              <a:t>• 1,200 RGB Images (224x224)</a:t>
            </a:r>
            <a:br/>
            <a:r>
              <a:t>• 5 Classes: pale, light_red, red, deep_red, purple</a:t>
            </a:r>
            <a:br/>
            <a:r>
              <a:t>• Evaluates mucosal color &amp; coating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SKIN DATASET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ISIC Dermatology Dataset</a:t>
            </a:r>
            <a:br/>
            <a:r>
              <a:t>• 1,500 Lesion &amp; Skin Images</a:t>
            </a:r>
            <a:br/>
            <a:r>
              <a:t>• 5 Classes: benign, erythema, keratosis, vascular, melanocytic</a:t>
            </a:r>
            <a:br/>
            <a:r>
              <a:t>• Complementary visual modality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CLINICAL DATASET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GI Symptoms &amp; Lifestyle Dataset</a:t>
            </a:r>
            <a:br/>
            <a:r>
              <a:t>• 1,000 Patient Records</a:t>
            </a:r>
            <a:br/>
            <a:r>
              <a:t>• 15 Features (pain, reflux, fiber, stress, sleep, BMI)</a:t>
            </a:r>
            <a:br/>
            <a:r>
              <a:t>• Target: Low / Moderate / Higher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Proposed AI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5295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From Dataset to Working Model</a:t>
            </a:r>
          </a:p>
        </p:txBody>
      </p:sp>
      <p:pic>
        <p:nvPicPr>
          <p:cNvPr id="5" name="Picture 4" descr="train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2053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1. Data Preprocessing: Resizing, ImageNet normalization, and tabular StandardScaler + OneHotEncoder.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2. Modality Models: PyTorch MobileNetV3 for images and Scikit-Learn Random Forest for tabular features.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3. Feature Extraction: Each encoder outputs a 16-D embedding vector.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4. Multimodal Fusion: Gated MLP combines embeddings into a 3-class screening indication.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5. Backend Integration: Saved weights (.pt &amp; .joblib) deployed on FastAPI REST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How the Application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1: Upload Tongue Image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TMC mucosal color &amp; coating feature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2: Upload Skin Image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ISIC dermatological sign feature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3: Enter Symptoms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Abdominal pain, bloating, reflux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5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4: Enter Lifestyle Info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Dietary fiber, stress, sleep, activity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5: AI Processing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FastAPI runs PyTorch &amp; Random Forest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6: Feature Fusion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Gated MLP concatenates 16-D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840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7: Screening Output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Preliminary GI Risk (Low / Mod / High)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Working Prototype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✔ Full-Stack Web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FastAPI Python REST Backend + React &amp; Tailwind CSS Frontend.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Project Expo Demo Mode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Pre-loaded research dataset profiles (Case A: Healthy, Case B: Moderate GERD, Case C: Suspected IBS) for seamless offline presentation.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Interactive Pipeline Visualizer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Shows real-time 16-D feature extraction and gated multimodal merging.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Transparent Risk Gauge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Displays preliminary screening risk scores with calibrated confidence values.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Empirical Performance Dashboard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Displays live model accuracy, macro F1, and confusion matrix heatmaps.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Model Evaluation &amp;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Modality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Test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 Model (MobileNetV3)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98.00%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0.9799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Skin Model (MobileNetV3)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Clinical Model (Random Forest)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79.50%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0.5456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MULTIMODAL FUSION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43891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Limitations &amp; Clinical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CRITICAL SAFETY DISCLAIMER:</a:t>
            </a:r>
            <a:br/>
            <a:r>
              <a:t>PRELIMINARY SCREENING SUPPORT ≠ MEDICAL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C4B"/>
                </a:solidFill>
              </a:defRPr>
            </a:pPr>
            <a:r>
              <a:t>• Independent Research Cohorts: Public datasets for tongue mucosa, skin, and clinical symptoms exist in separate study populations. Prototype fusion combines normalized embeddings rather than paired patient records.</a:t>
            </a:r>
          </a:p>
          <a:p>
            <a:pPr>
              <a:spcAft>
                <a:spcPts val="800"/>
              </a:spcAft>
              <a:defRPr sz="1300">
                <a:solidFill>
                  <a:srgbClr val="323C4B"/>
                </a:solidFill>
              </a:defRPr>
            </a:pPr>
            <a:r>
              <a:t>• Clinical Validation Required: Full clinical validation requires a single paired patient cohort collected under Institutional Review Board (IRB) ethical approval.</a:t>
            </a:r>
          </a:p>
          <a:p>
            <a:pPr>
              <a:spcAft>
                <a:spcPts val="800"/>
              </a:spcAft>
              <a:defRPr sz="1300">
                <a:solidFill>
                  <a:srgbClr val="323C4B"/>
                </a:solidFill>
              </a:defRPr>
            </a:pPr>
            <a:r>
              <a:t>• Lighting &amp; Device Variance: Camera hardware white balance and lighting variations may affect mucosal color classification.</a:t>
            </a:r>
          </a:p>
          <a:p>
            <a:pPr>
              <a:spcAft>
                <a:spcPts val="800"/>
              </a:spcAft>
              <a:defRPr sz="1300">
                <a:solidFill>
                  <a:srgbClr val="323C4B"/>
                </a:solidFill>
              </a:defRPr>
            </a:pPr>
            <a:r>
              <a:t>• Not a Replacement for Endoscopy: The system is designed for preliminary risk stratification and triaging, not diagnostic endoscopy or biopsy replacement.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Future Scope &amp; Roadmap</a:t>
            </a:r>
          </a:p>
        </p:txBody>
      </p:sp>
      <p:pic>
        <p:nvPicPr>
          <p:cNvPr id="5" name="Picture 4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2053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1. Paired Clinical Dataset Collection under institutional IRB approval.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2. Hospital &amp; Clinical Collaborations with gastroenterology departments.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3. Explainable AI (XAI) Integration with Grad-CAM saliency maps for clinicians.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4. Mobile Application Deployment (Android / iOS native apps for point-of-care screening).</a:t>
            </a:r>
          </a:p>
          <a:p>
            <a:pPr>
              <a:spcAft>
                <a:spcPts val="400"/>
              </a:spcAft>
              <a:defRPr sz="1200">
                <a:solidFill>
                  <a:srgbClr val="323C4B"/>
                </a:solidFill>
              </a:defRPr>
            </a:pPr>
            <a:r>
              <a:t>5. Longitudinal Patient Health Monitoring across multiple screening visits.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828800" cy="76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Potential Impact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★ Accessible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Potential smartphone-based preliminary screening accessible outside tertiary centers.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★ Non-Invasive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Uses easily obtainable visual images and self-reported questionnaires.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★ Multimodal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Combines visual mucosal cues, skin signs, and clinical lifestyle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291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★ Decision Support</a:t>
            </a:r>
          </a:p>
          <a:p>
            <a:pPr>
              <a:defRPr sz="1200">
                <a:solidFill>
                  <a:srgbClr val="323C4B"/>
                </a:solidFill>
              </a:defRPr>
            </a:pPr>
            <a:r>
              <a:t>Helps identify individuals who may benefit from further clinical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CONCLUSION: Our project explores how multimodal AI can combine tongue images, complementary visual information, gastrointestinal symptoms, and lifestyle features for preliminary gastrointestinal risk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926080" cy="12201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40"/>
                </a:solidFill>
                <a:latin typeface="Calibri"/>
              </a:defRPr>
            </a:pPr>
            <a:r>
              <a:t>Sona College of Technology</a:t>
            </a:r>
          </a:p>
          <a:p>
            <a:pPr>
              <a:defRPr sz="1400">
                <a:solidFill>
                  <a:srgbClr val="0D9488"/>
                </a:solidFill>
                <a:latin typeface="Calibri"/>
              </a:defRPr>
            </a:pPr>
            <a:r>
              <a:t>Department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2240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000">
                <a:solidFill>
                  <a:srgbClr val="0D9488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Presented by: Vishnu Priya S  &amp;  Nithika R</a:t>
            </a:r>
          </a:p>
          <a:p>
            <a:pPr algn="ctr">
              <a:spcBef>
                <a:spcPts val="600"/>
              </a:spcBef>
              <a:defRPr sz="1300">
                <a:solidFill>
                  <a:srgbClr val="323C4B"/>
                </a:solidFill>
              </a:defRPr>
            </a:pPr>
            <a:r>
              <a:t>Department of Biomedical Engineering | Sona College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