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926080" cy="12201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40"/>
                </a:solidFill>
                <a:latin typeface="Calibri"/>
              </a:defRPr>
            </a:pPr>
            <a:r>
              <a:t>Sona College of Technology</a:t>
            </a:r>
          </a:p>
          <a:p>
            <a:pPr>
              <a:defRPr sz="1400">
                <a:solidFill>
                  <a:srgbClr val="0D9488"/>
                </a:solidFill>
                <a:latin typeface="Calibri"/>
              </a:defRPr>
            </a:pPr>
            <a:r>
              <a:t>Department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  <a:latin typeface="Calibri"/>
              </a:defRPr>
            </a:pPr>
            <a:r>
              <a:t>AI-Based Gut Health Monitoring Using Tongue</a:t>
            </a:r>
          </a:p>
          <a:p>
            <a:pPr>
              <a:spcBef>
                <a:spcPts val="1200"/>
              </a:spcBef>
              <a:defRPr sz="1300">
                <a:solidFill>
                  <a:srgbClr val="323C4B"/>
                </a:solidFill>
                <a:latin typeface="Calibri"/>
              </a:defRPr>
            </a:pPr>
            <a:r>
              <a:t>Multimodal AI-Based Gastrointestinal Disease Screening Using Tongue and Skin Images, GI Symptoms and Lifestyle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PRESENTED BY: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• Vishnu Priya S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• Nithika R</a:t>
            </a:r>
          </a:p>
        </p:txBody>
      </p:sp>
      <p:pic>
        <p:nvPicPr>
          <p:cNvPr id="6" name="Picture 5" descr="tongue_light_red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0"/>
            <a:ext cx="3474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Gastrointestinal (GI) disorders affect a large global population, impacting overall quality of life.</a:t>
            </a:r>
          </a:p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Early screening can support timely clinical evaluation and secondary triage.</a:t>
            </a:r>
          </a:p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Conventional diagnostic investigations (endoscopy, colonoscopy) may be invasive, costly, and specialist-dependent.</a:t>
            </a:r>
          </a:p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Specialist access can be limited in rural, primary care, or low-resource settings.</a:t>
            </a:r>
          </a:p>
          <a:p>
            <a:pPr>
              <a:spcAft>
                <a:spcPts val="600"/>
              </a:spcAft>
              <a:defRPr sz="1300">
                <a:solidFill>
                  <a:srgbClr val="323C4B"/>
                </a:solidFill>
              </a:defRPr>
            </a:pPr>
            <a:r>
              <a:t>• A simple non-invasive preliminary screening approach could improve healthcare accessibility.</a:t>
            </a:r>
          </a:p>
        </p:txBody>
      </p:sp>
      <p:pic>
        <p:nvPicPr>
          <p:cNvPr id="6" name="Picture 5" descr="problem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7772400" cy="23672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RESEARCH NEED:</a:t>
            </a:r>
            <a:br/>
            <a:r>
              <a:t>A simple, non-invasive preliminary screening approach to support timely clinical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Why Start With the Tongue?</a:t>
            </a:r>
          </a:p>
        </p:txBody>
      </p:sp>
      <p:pic>
        <p:nvPicPr>
          <p:cNvPr id="5" name="Picture 4" descr="tongue_red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8404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0" y="164592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✔ Easy to Capture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Smartphone cameras can easily acquire diffuse tongue mucosal images.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Non-Invasive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Image acquisition requires no physical intervention or patient discomfort.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Research Interest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Previous clinical research has explored relationships between tongue mucosal appearance, microflora, and GI conditions.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Visual Features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Enables quantitative feature extraction of Colour, Coating, Texture, and Surface characteristics.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IMPORTANT NOTE: Tongue appearance alone is not a standalone diagnosis; it provides feature inputs for preliminary screening.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Why Use Multiple Inputs?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1. Tongue Image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Provides visual mucosal color, coating density, and texture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Skin Image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Provides complementary visual information (dermatological &amp; vascular signs).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240"/>
                </a:solidFill>
              </a:defRPr>
            </a:pPr>
            <a:r>
              <a:t>3. Symptoms &amp; Lifestyle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Provides structured patient-reported GI symptoms &amp; lifestyle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MULTIMODAL FUSION RATIONALE:</a:t>
            </a:r>
          </a:p>
          <a:p>
            <a:pPr>
              <a:defRPr sz="1100">
                <a:solidFill>
                  <a:srgbClr val="323C4B"/>
                </a:solidFill>
              </a:defRPr>
            </a:pPr>
            <a:r>
              <a:t>Skin appearance is used only as a complementary visual modality and is not presented as direct evidence of gastrointestinal disease. Combining visual features with structured clinical symptoms captures complementary biological markers for robust preliminary screening.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Research Gap &amp; Proposed Innovation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240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240"/>
                          </a:solidFill>
                        </a:defRPr>
                      </a:pPr>
                      <a:r>
                        <a:t>Input 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2240"/>
                          </a:solidFill>
                        </a:defRPr>
                      </a:pPr>
                      <a:r>
                        <a:t>Main Focus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Tongue-based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Tongue image / inquiry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Tongue-based health assessment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Tongue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Tongue image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Visual classification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Skin-image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Skin image +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C4B"/>
                          </a:solidFill>
                        </a:defRPr>
                      </a:pPr>
                      <a:r>
                        <a:t>Dermatology-oriented tasks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PROPOSED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Tongue + Skin + 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Multimodal preliminary GI screening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01 Multimodal Input</a:t>
            </a:r>
          </a:p>
          <a:p>
            <a:pPr>
              <a:spcAft>
                <a:spcPts val="600"/>
              </a:spcAft>
              <a:defRPr sz="1100">
                <a:solidFill>
                  <a:srgbClr val="323C4B"/>
                </a:solidFill>
              </a:defRPr>
            </a:pPr>
            <a:r>
              <a:t>Tongue image + skin image + symptoms + lifestyle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02 Separate Feature Learning</a:t>
            </a:r>
          </a:p>
          <a:p>
            <a:pPr>
              <a:spcAft>
                <a:spcPts val="600"/>
              </a:spcAft>
              <a:defRPr sz="1100">
                <a:solidFill>
                  <a:srgbClr val="323C4B"/>
                </a:solidFill>
              </a:defRPr>
            </a:pPr>
            <a:r>
              <a:t>Appropriate model trained for each modality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03 Feature Fusion</a:t>
            </a:r>
          </a:p>
          <a:p>
            <a:pPr>
              <a:spcAft>
                <a:spcPts val="600"/>
              </a:spcAft>
              <a:defRPr sz="1100">
                <a:solidFill>
                  <a:srgbClr val="323C4B"/>
                </a:solidFill>
              </a:defRPr>
            </a:pPr>
            <a:r>
              <a:t>Gated MLP combines complementary feature representations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04 Screening Output</a:t>
            </a:r>
          </a:p>
          <a:p>
            <a:pPr>
              <a:spcAft>
                <a:spcPts val="600"/>
              </a:spcAft>
              <a:defRPr sz="1100">
                <a:solidFill>
                  <a:srgbClr val="323C4B"/>
                </a:solidFill>
              </a:defRPr>
            </a:pPr>
            <a:r>
              <a:t>Preliminary GI risk indication, not medical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Real Dataset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TONGUE DATA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TMC / TCM Tongue Diagnosis Dataset</a:t>
            </a:r>
            <a:br/>
            <a:r>
              <a:t>• 1,200 RGB Images (224x224)</a:t>
            </a:r>
            <a:br/>
            <a:r>
              <a:t>• 5 Classes: pale, light_red, red, deep_red, purple</a:t>
            </a:r>
            <a:br/>
            <a:r>
              <a:t>• Evaluates mucosal color &amp; coating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SKIN DATA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ISIC Dermatology Dataset</a:t>
            </a:r>
            <a:br/>
            <a:r>
              <a:t>• 1,500 Lesion &amp; Skin Images</a:t>
            </a:r>
            <a:br/>
            <a:r>
              <a:t>• 5 Classes: benign, erythema, keratosis, vascular, melanocytic</a:t>
            </a:r>
            <a:br/>
            <a:r>
              <a:t>• Used as complementary visual modality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GI / CLINICAL DATA</a:t>
            </a:r>
          </a:p>
          <a:p>
            <a:pPr>
              <a:spcBef>
                <a:spcPts val="1000"/>
              </a:spcBef>
              <a:defRPr sz="1200">
                <a:solidFill>
                  <a:srgbClr val="323C4B"/>
                </a:solidFill>
              </a:defRPr>
            </a:pPr>
            <a:r>
              <a:t>GI Symptoms &amp; Lifestyle Dataset</a:t>
            </a:r>
            <a:br/>
            <a:r>
              <a:t>• 1,000 Patient Records</a:t>
            </a:r>
            <a:br/>
            <a:r>
              <a:t>• 15 Real Features (pain, reflux, fiber, stress, sleep, BMI)</a:t>
            </a:r>
            <a:br/>
            <a:r>
              <a:t>• Target: Low / Moderate / Higher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Proposed AI 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698480" cy="5295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Training &amp; Application Workflow</a:t>
            </a:r>
          </a:p>
        </p:txBody>
      </p:sp>
      <p:pic>
        <p:nvPicPr>
          <p:cNvPr id="5" name="Picture 4" descr="train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10698480" cy="20532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240"/>
                </a:solidFill>
              </a:defRPr>
            </a:pPr>
            <a:r>
              <a:t>7-STEP USER APPLICATION WORKFLOW:</a:t>
            </a:r>
          </a:p>
          <a:p>
            <a:pPr>
              <a:spcBef>
                <a:spcPts val="400"/>
              </a:spcBef>
              <a:defRPr sz="1100">
                <a:solidFill>
                  <a:srgbClr val="323C4B"/>
                </a:solidFill>
              </a:defRPr>
            </a:pPr>
            <a:r>
              <a:t>• 1. Upload Tongue Image (TMC mucosal features)  |  2. Upload Skin Image (ISIC complementary visual signs)</a:t>
            </a:r>
          </a:p>
          <a:p>
            <a:pPr>
              <a:spcBef>
                <a:spcPts val="400"/>
              </a:spcBef>
              <a:defRPr sz="1100">
                <a:solidFill>
                  <a:srgbClr val="323C4B"/>
                </a:solidFill>
              </a:defRPr>
            </a:pPr>
            <a:r>
              <a:t>• 3. Enter GI Symptoms (pain, bloating, reflux)  |  4. Enter Lifestyle Data (dietary fiber, stress, sleep)</a:t>
            </a:r>
          </a:p>
          <a:p>
            <a:pPr>
              <a:spcBef>
                <a:spcPts val="400"/>
              </a:spcBef>
              <a:defRPr sz="1100">
                <a:solidFill>
                  <a:srgbClr val="323C4B"/>
                </a:solidFill>
              </a:defRPr>
            </a:pPr>
            <a:r>
              <a:t>• 5. AI Processes Inputs via FastAPI Service     |  6. Multimodal Feature Fusion (16-D vector concatenation)</a:t>
            </a:r>
          </a:p>
          <a:p>
            <a:pPr>
              <a:spcBef>
                <a:spcPts val="400"/>
              </a:spcBef>
              <a:defRPr sz="1100">
                <a:solidFill>
                  <a:srgbClr val="323C4B"/>
                </a:solidFill>
              </a:defRPr>
            </a:pPr>
            <a:r>
              <a:t>• 7. Display Preliminary Screening Result (Low / Moderate / Higher GI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Working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✔ Full-Stack Web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FastAPI Python REST Backend + React &amp; Tailwind CSS Web Dashboard.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Project Expo Demo Mode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Pre-loaded research dataset profiles (Case A: Healthy, Case B: Moderate GERD, Case C: Suspected IBS) for seamless presentation.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Interactive Pipeline Visualizer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Shows real-time 16-D feature extraction and gated multimodal merging.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Transparent Risk Gauge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Displays preliminary screening risk scores with calibrated confidence values.</a:t>
            </a: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✔ Empirical Performance Dashboard</a:t>
            </a:r>
          </a:p>
          <a:p>
            <a:pPr>
              <a:spcAft>
                <a:spcPts val="800"/>
              </a:spcAft>
              <a:defRPr sz="1200">
                <a:solidFill>
                  <a:srgbClr val="323C4B"/>
                </a:solidFill>
              </a:defRPr>
            </a:pPr>
            <a:r>
              <a:t>Displays live model accuracy, macro F1, and confusion matrix heatmaps.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Model Evaluation &amp;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Modality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Test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Tongue Model (MobileNetV3)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98.00%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0.9799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Skin Model (MobileNetV3)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Clinical Model (Random Forest)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79.50%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C4B"/>
                          </a:solidFill>
                        </a:defRPr>
                      </a:pPr>
                      <a:r>
                        <a:t>0.5456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MULTIMODAL FUSION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45920"/>
            <a:ext cx="43891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645920" cy="686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C4B"/>
                </a:solidFill>
                <a:latin typeface="Calibri"/>
              </a:defRPr>
            </a:pPr>
            <a:r>
              <a:t>Sona College of Technology | Dept.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Calibri"/>
              </a:defRPr>
            </a:pPr>
            <a:r>
              <a:t>Limitations, Clinical Safety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LIMITATIONS &amp; CLINICAL SAFETY</a:t>
            </a:r>
          </a:p>
          <a:p>
            <a:pPr>
              <a:spcBef>
                <a:spcPts val="600"/>
              </a:spcBef>
              <a:defRPr sz="1100">
                <a:solidFill>
                  <a:srgbClr val="323C4B"/>
                </a:solidFill>
              </a:defRPr>
            </a:pPr>
            <a:r>
              <a:t>• Independent Datasets: Public datasets exist in separate cohorts. Prototype fusion combines normalized embeddings.</a:t>
            </a:r>
          </a:p>
          <a:p>
            <a:pPr>
              <a:spcBef>
                <a:spcPts val="600"/>
              </a:spcBef>
              <a:defRPr sz="1100">
                <a:solidFill>
                  <a:srgbClr val="323C4B"/>
                </a:solidFill>
              </a:defRPr>
            </a:pPr>
            <a:r>
              <a:t>• Clinical Validation Required: Full validation requires paired patient data under IRB ethical approval.</a:t>
            </a:r>
          </a:p>
          <a:p>
            <a:pPr>
              <a:spcBef>
                <a:spcPts val="600"/>
              </a:spcBef>
              <a:defRPr sz="1100">
                <a:solidFill>
                  <a:srgbClr val="323C4B"/>
                </a:solidFill>
              </a:defRPr>
            </a:pPr>
            <a:r>
              <a:t>• Not a Medical Diagnosis: System triages preliminary risk; does not replace endoscopy or biopsy.</a:t>
            </a:r>
          </a:p>
          <a:p>
            <a:br/>
            <a:pPr>
              <a:defRPr sz="1200" b="1">
                <a:solidFill>
                  <a:srgbClr val="E11D48"/>
                </a:solidFill>
              </a:defRPr>
            </a:pPr>
            <a:r>
              <a:t>SCREENING SUPPORT ≠ MEDICAL DIAGNOSIS</a:t>
            </a:r>
          </a:p>
        </p:txBody>
      </p:sp>
      <p:pic>
        <p:nvPicPr>
          <p:cNvPr id="6" name="Picture 5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10002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347472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FUTURE DEVELOPMENT ROADMAP</a:t>
            </a:r>
          </a:p>
          <a:p>
            <a:pPr>
              <a:spcBef>
                <a:spcPts val="400"/>
              </a:spcBef>
              <a:defRPr sz="1100">
                <a:solidFill>
                  <a:srgbClr val="323C4B"/>
                </a:solidFill>
              </a:defRPr>
            </a:pPr>
            <a:r>
              <a:t>1. Paired Clinical Dataset Collection (IRB Approval)</a:t>
            </a:r>
          </a:p>
          <a:p>
            <a:pPr>
              <a:spcBef>
                <a:spcPts val="400"/>
              </a:spcBef>
              <a:defRPr sz="1100">
                <a:solidFill>
                  <a:srgbClr val="323C4B"/>
                </a:solidFill>
              </a:defRPr>
            </a:pPr>
            <a:r>
              <a:t>2. Hospital &amp; Gastroenterology Collaboration</a:t>
            </a:r>
          </a:p>
          <a:p>
            <a:pPr>
              <a:spcBef>
                <a:spcPts val="400"/>
              </a:spcBef>
              <a:defRPr sz="1100">
                <a:solidFill>
                  <a:srgbClr val="323C4B"/>
                </a:solidFill>
              </a:defRPr>
            </a:pPr>
            <a:r>
              <a:t>3. Mobile Native App Launch (Android / iOS)</a:t>
            </a:r>
          </a:p>
          <a:p>
            <a:pPr>
              <a:spcBef>
                <a:spcPts val="400"/>
              </a:spcBef>
              <a:defRPr sz="1100">
                <a:solidFill>
                  <a:srgbClr val="323C4B"/>
                </a:solidFill>
              </a:defRPr>
            </a:pPr>
            <a:r>
              <a:t>4. Prospective Clinical Evaluation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90178218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926080" cy="12201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240"/>
                </a:solidFill>
                <a:latin typeface="Calibri"/>
              </a:defRPr>
            </a:pPr>
            <a:r>
              <a:t>Sona College of Technology</a:t>
            </a:r>
          </a:p>
          <a:p>
            <a:pPr>
              <a:defRPr sz="1400">
                <a:solidFill>
                  <a:srgbClr val="0D9488"/>
                </a:solidFill>
                <a:latin typeface="Calibri"/>
              </a:defRPr>
            </a:pPr>
            <a:r>
              <a:t>Department of Biomedical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POTENTIAL IMPACT:</a:t>
            </a:r>
          </a:p>
          <a:p>
            <a:pPr>
              <a:spcBef>
                <a:spcPts val="200"/>
              </a:spcBef>
              <a:defRPr sz="1100">
                <a:solidFill>
                  <a:srgbClr val="323C4B"/>
                </a:solidFill>
              </a:defRPr>
            </a:pPr>
            <a:r>
              <a:t>• Accessible: Smartphone-based preliminary screening accessible outside tertiary centers.</a:t>
            </a:r>
          </a:p>
          <a:p>
            <a:pPr>
              <a:spcBef>
                <a:spcPts val="200"/>
              </a:spcBef>
              <a:defRPr sz="1100">
                <a:solidFill>
                  <a:srgbClr val="323C4B"/>
                </a:solidFill>
              </a:defRPr>
            </a:pPr>
            <a:r>
              <a:t>• Non-Invasive: Readily obtainable visual images and self-reported questionnaires.</a:t>
            </a:r>
          </a:p>
          <a:p>
            <a:pPr>
              <a:spcBef>
                <a:spcPts val="200"/>
              </a:spcBef>
              <a:defRPr sz="1100">
                <a:solidFill>
                  <a:srgbClr val="323C4B"/>
                </a:solidFill>
              </a:defRPr>
            </a:pPr>
            <a:r>
              <a:t>• Multimodal: Combines visual mucosal cues, skin signs, and clinical lifestyle data.</a:t>
            </a:r>
          </a:p>
          <a:p>
            <a:pPr>
              <a:spcBef>
                <a:spcPts val="200"/>
              </a:spcBef>
              <a:defRPr sz="1100">
                <a:solidFill>
                  <a:srgbClr val="323C4B"/>
                </a:solidFill>
              </a:defRPr>
            </a:pPr>
            <a:r>
              <a:t>• Decision Support: May help identify individuals needing secondary clinical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2240"/>
                </a:solidFill>
              </a:defRPr>
            </a:pPr>
            <a:r>
              <a:t>THANK YOU</a:t>
            </a:r>
          </a:p>
          <a:p>
            <a:pPr algn="ctr">
              <a:spcBef>
                <a:spcPts val="400"/>
              </a:spcBef>
              <a:defRPr sz="1800">
                <a:solidFill>
                  <a:srgbClr val="0D9488"/>
                </a:solidFill>
              </a:defRPr>
            </a:pPr>
            <a:r>
              <a:t>Questions &amp; Discussion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0F2240"/>
                </a:solidFill>
              </a:defRPr>
            </a:pPr>
            <a:r>
              <a:t>Presented by: Vishnu Priya S  &amp;  Nithika R</a:t>
            </a:r>
            <a:br/>
            <a:r>
              <a:t>Department of Biomedical Engineering | Sona College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C4B"/>
                </a:solidFill>
                <a:latin typeface="Calibri"/>
              </a:defRPr>
            </a:pPr>
            <a:r>
              <a:t>AI-Based Gut Health Monitoring Using Tongue | BME 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240"/>
                </a:solidFill>
                <a:latin typeface="Calibri"/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